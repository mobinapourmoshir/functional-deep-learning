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5801" autoAdjust="0"/>
  </p:normalViewPr>
  <p:slideViewPr>
    <p:cSldViewPr snapToGrid="0">
      <p:cViewPr varScale="1">
        <p:scale>
          <a:sx n="97" d="100"/>
          <a:sy n="97" d="100"/>
        </p:scale>
        <p:origin x="3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A5DBE-4E5E-4355-B114-72D2B2E5912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3BF45-3093-4E5F-A975-34E091D64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97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3BF45-3093-4E5F-A975-34E091D642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276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7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4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3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3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6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6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8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3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8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3A70C68-2991-42D9-994B-B23831AAD2A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092F692-A3C5-449A-838D-B7D1A87F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4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binapourmoshir/Functional-Deep-Learning/blob/main/Autoencoders.ipynb" TargetMode="External"/><Relationship Id="rId2" Type="http://schemas.openxmlformats.org/officeDocument/2006/relationships/hyperlink" Target="https://www.geeksforgeeks.org/machine-learning/backpropagation-in-neural-network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mobinapourmoshir/Functional-Deep-Learning/blob/main/Autoencoders.ipyn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binapourmoshir/Functional-Deep-Learning/blob/main/Autoencoders.ipynb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535E-3801-4642-97B4-1A9647992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3704"/>
            <a:ext cx="9144000" cy="179540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ahnschrift Light Condensed" panose="020B0502040204020203" pitchFamily="34" charset="0"/>
                <a:cs typeface="Aharoni" panose="02010803020104030203" pitchFamily="2" charset="-79"/>
              </a:rPr>
              <a:t>Autoencoders &amp; Dimensionality</a:t>
            </a:r>
            <a:br>
              <a:rPr lang="en-US" b="1" dirty="0">
                <a:latin typeface="Bahnschrift Light Condensed" panose="020B0502040204020203" pitchFamily="34" charset="0"/>
                <a:cs typeface="Aharoni" panose="02010803020104030203" pitchFamily="2" charset="-79"/>
              </a:rPr>
            </a:br>
            <a:r>
              <a:rPr lang="en-US" b="1" dirty="0">
                <a:latin typeface="Bahnschrift Light Condensed" panose="020B0502040204020203" pitchFamily="34" charset="0"/>
                <a:cs typeface="Aharoni" panose="02010803020104030203" pitchFamily="2" charset="-79"/>
              </a:rPr>
              <a:t>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9C827-511E-40BD-95C4-95093BF3C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369557"/>
            <a:ext cx="9144000" cy="477982"/>
          </a:xfrm>
        </p:spPr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MSSC 6931 – Fall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E9D8C-B8F7-4D35-82F7-6DE326668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204" y="3877988"/>
            <a:ext cx="4431591" cy="23946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572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C958-11EA-416C-A5A5-17676B63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latin typeface="Bahnschrift Light Condensed" panose="020B0502040204020203" pitchFamily="34" charset="0"/>
                <a:cs typeface="Aharoni" panose="02010803020104030203" pitchFamily="2" charset="-79"/>
              </a:rPr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8699-6FF0-4983-93AC-2E4A601A4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3891"/>
            <a:ext cx="10515600" cy="3563072"/>
          </a:xfrm>
        </p:spPr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Motivation 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Dimensionality Reduction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Fully-connected Autoencoders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Implementation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Different types of autoencoders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8E736-750C-4402-8214-69535DED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862" y="1399700"/>
            <a:ext cx="3262522" cy="34923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353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FC48650-1B4D-448A-BE02-441FFC948993}"/>
              </a:ext>
            </a:extLst>
          </p:cNvPr>
          <p:cNvSpPr txBox="1">
            <a:spLocks/>
          </p:cNvSpPr>
          <p:nvPr/>
        </p:nvSpPr>
        <p:spPr>
          <a:xfrm>
            <a:off x="4420061" y="-113745"/>
            <a:ext cx="3351877" cy="47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Autoencoder Applications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83A9C-A044-4916-B47C-0FD88816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82" y="1834864"/>
            <a:ext cx="5140477" cy="3797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53FAFC-50CD-4D77-9B93-C61DBFF8642E}"/>
              </a:ext>
            </a:extLst>
          </p:cNvPr>
          <p:cNvSpPr txBox="1"/>
          <p:nvPr/>
        </p:nvSpPr>
        <p:spPr>
          <a:xfrm>
            <a:off x="2495888" y="1038621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Denoising autoencoder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F9A400-CF7E-480E-8D2D-44272656F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459" y="1301857"/>
            <a:ext cx="4853989" cy="43308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5FEE06-C80A-4F42-B60C-F55239280BDD}"/>
              </a:ext>
            </a:extLst>
          </p:cNvPr>
          <p:cNvSpPr txBox="1"/>
          <p:nvPr/>
        </p:nvSpPr>
        <p:spPr>
          <a:xfrm>
            <a:off x="4292460" y="6598930"/>
            <a:ext cx="3607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https://sebastianraschka.com/blog/2021/dl-course.html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A0D19E-0183-4F8B-9D03-8FBDF34923D6}"/>
              </a:ext>
            </a:extLst>
          </p:cNvPr>
          <p:cNvSpPr txBox="1"/>
          <p:nvPr/>
        </p:nvSpPr>
        <p:spPr>
          <a:xfrm>
            <a:off x="7645153" y="1040670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Image enhancement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ED9A8-D2B4-494B-AAF3-27D29568F195}"/>
              </a:ext>
            </a:extLst>
          </p:cNvPr>
          <p:cNvSpPr txBox="1"/>
          <p:nvPr/>
        </p:nvSpPr>
        <p:spPr>
          <a:xfrm>
            <a:off x="10466862" y="1834864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Original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CE487-C306-4A4A-8C67-81DEB7D37A70}"/>
              </a:ext>
            </a:extLst>
          </p:cNvPr>
          <p:cNvSpPr txBox="1"/>
          <p:nvPr/>
        </p:nvSpPr>
        <p:spPr>
          <a:xfrm>
            <a:off x="10466862" y="3097964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Noisy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123E0B-63D0-4330-8023-5364B4C3A41C}"/>
              </a:ext>
            </a:extLst>
          </p:cNvPr>
          <p:cNvSpPr txBox="1"/>
          <p:nvPr/>
        </p:nvSpPr>
        <p:spPr>
          <a:xfrm>
            <a:off x="10466861" y="436106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Recovered image</a:t>
            </a:r>
          </a:p>
        </p:txBody>
      </p:sp>
    </p:spTree>
    <p:extLst>
      <p:ext uri="{BB962C8B-B14F-4D97-AF65-F5344CB8AC3E}">
        <p14:creationId xmlns:p14="http://schemas.microsoft.com/office/powerpoint/2010/main" val="258541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212C1839-6D1A-4C58-869F-A3EB91C351AE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Dimensionality Reduction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C20B0-CD9C-4BC5-AE1A-AEE2E35C8BF4}"/>
              </a:ext>
            </a:extLst>
          </p:cNvPr>
          <p:cNvSpPr txBox="1"/>
          <p:nvPr/>
        </p:nvSpPr>
        <p:spPr>
          <a:xfrm>
            <a:off x="4292461" y="6611558"/>
            <a:ext cx="3607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https://sebastianraschka.com/blog/2021/dl-course.html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73810-F319-4F85-BDB4-9C5243778A65}"/>
              </a:ext>
            </a:extLst>
          </p:cNvPr>
          <p:cNvSpPr txBox="1"/>
          <p:nvPr/>
        </p:nvSpPr>
        <p:spPr>
          <a:xfrm>
            <a:off x="284698" y="800334"/>
            <a:ext cx="1140527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Autoencoders are kind of feature extraction (where we don’t keep the original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It’s an unsupervised learning (No target variable)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Application and goals: • Finding hidden structures in data • Data compression • Clustering • Retrieving similar objects • Exploratory data analysis • Generating new examples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DBC2E13-4284-4B6A-AC5C-BF032008F31E}"/>
              </a:ext>
            </a:extLst>
          </p:cNvPr>
          <p:cNvSpPr txBox="1">
            <a:spLocks/>
          </p:cNvSpPr>
          <p:nvPr/>
        </p:nvSpPr>
        <p:spPr>
          <a:xfrm>
            <a:off x="2743200" y="253442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Principal Component Analysis (PCA)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CF95A-7156-4F4C-9F15-1083E722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3" y="3371870"/>
            <a:ext cx="2823882" cy="2053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76CEAD-D57A-4828-A3A5-8C8A0B817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555" y="3371870"/>
            <a:ext cx="4178638" cy="22789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0C8823-2C31-41CE-A684-D3A9F75F3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193" y="3312412"/>
            <a:ext cx="4010021" cy="239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AF7364EE-7A49-4553-AEA4-DACB45DA118C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Fully-connected Autoencoders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DEC7E-0AEF-4DA8-8B90-E303CDC5D079}"/>
              </a:ext>
            </a:extLst>
          </p:cNvPr>
          <p:cNvSpPr txBox="1"/>
          <p:nvPr/>
        </p:nvSpPr>
        <p:spPr>
          <a:xfrm>
            <a:off x="4292461" y="6611558"/>
            <a:ext cx="3607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https://sebastianraschka.com/blog/2021/dl-course.html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94722-07A6-42B1-A95B-A000B87525BC}"/>
              </a:ext>
            </a:extLst>
          </p:cNvPr>
          <p:cNvSpPr txBox="1"/>
          <p:nvPr/>
        </p:nvSpPr>
        <p:spPr>
          <a:xfrm>
            <a:off x="555812" y="4741257"/>
            <a:ext cx="1108668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The input is projected into the lower-dimensional latent space, and the output is a reconstructed version of that.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No orthogonality constraints in this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Potential Autoencoder Applications: After training, disregard this part: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Use embedding as input to classic machine learning methods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(SVM, KNN, Random Forest, ...)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Latent space can also be used for visualization (EDA, clustering)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1FC97-0CAE-47A7-B697-CC8688C03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18" y="482514"/>
            <a:ext cx="5613022" cy="3995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E08D6-EBB9-486C-A464-C6AE8FF49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195" y="5023357"/>
            <a:ext cx="2044070" cy="1588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CE0AA4-9EF3-4BEF-A73B-915B47213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588" y="1497109"/>
            <a:ext cx="3746503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1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ADA2F101-62DB-455F-AC8D-271E5C3C392B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A Simple Autoencoder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147EF-6D99-4F1E-BC9B-5FC847A4B250}"/>
              </a:ext>
            </a:extLst>
          </p:cNvPr>
          <p:cNvSpPr txBox="1"/>
          <p:nvPr/>
        </p:nvSpPr>
        <p:spPr>
          <a:xfrm>
            <a:off x="4292461" y="6611558"/>
            <a:ext cx="3607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https://sebastianraschka.com/blog/2021/dl-course.html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27031-7736-4786-93DF-D07E6595A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08" y="237679"/>
            <a:ext cx="10269383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8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89D2548-C601-462A-A8CA-552346517129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More on Autoencoders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89A8C-7E97-4380-B0AE-BB14BEC2DC18}"/>
              </a:ext>
            </a:extLst>
          </p:cNvPr>
          <p:cNvSpPr txBox="1"/>
          <p:nvPr/>
        </p:nvSpPr>
        <p:spPr>
          <a:xfrm>
            <a:off x="3764272" y="6581001"/>
            <a:ext cx="4663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https://www.slideshare.net/slideshow/autoencoder-141008858/141008858#6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0325B-01F0-4B02-B40C-E28A8E588E3B}"/>
              </a:ext>
            </a:extLst>
          </p:cNvPr>
          <p:cNvSpPr txBox="1"/>
          <p:nvPr/>
        </p:nvSpPr>
        <p:spPr>
          <a:xfrm>
            <a:off x="782294" y="1061292"/>
            <a:ext cx="55098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Hyperparameters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b="1" dirty="0">
                <a:latin typeface="+mj-lt"/>
              </a:rPr>
              <a:t>Code Size</a:t>
            </a:r>
            <a:r>
              <a:rPr lang="en-US" sz="2000" dirty="0">
                <a:latin typeface="+mj-lt"/>
              </a:rPr>
              <a:t>: Number of nodes in the middle layer. </a:t>
            </a:r>
          </a:p>
          <a:p>
            <a:r>
              <a:rPr lang="en-US" sz="2000" b="1" dirty="0">
                <a:latin typeface="+mj-lt"/>
              </a:rPr>
              <a:t>Number of layers</a:t>
            </a:r>
            <a:r>
              <a:rPr lang="en-US" sz="2000" dirty="0">
                <a:latin typeface="+mj-lt"/>
              </a:rPr>
              <a:t>: The encoder and decoder can be deep.</a:t>
            </a:r>
          </a:p>
          <a:p>
            <a:r>
              <a:rPr lang="en-US" sz="2000" b="1" dirty="0">
                <a:latin typeface="+mj-lt"/>
              </a:rPr>
              <a:t>Number of nodes per layer</a:t>
            </a:r>
            <a:r>
              <a:rPr lang="en-US" sz="2000" dirty="0">
                <a:latin typeface="+mj-lt"/>
              </a:rPr>
              <a:t> </a:t>
            </a:r>
          </a:p>
          <a:p>
            <a:r>
              <a:rPr lang="en-US" sz="2000" b="1" dirty="0">
                <a:latin typeface="+mj-lt"/>
              </a:rPr>
              <a:t>Loss Function</a:t>
            </a:r>
            <a:r>
              <a:rPr lang="en-US" sz="2000" dirty="0">
                <a:latin typeface="+mj-lt"/>
              </a:rPr>
              <a:t>: Either MSE or binary cross entropy. If the input values are in range [0,1] then we use cross entropy, otherwise MSE.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4BC51-6B76-47FC-836D-4C89E36F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177" y="510348"/>
            <a:ext cx="5117529" cy="29756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904375-4F72-42E5-82BC-BA3B085F6650}"/>
              </a:ext>
            </a:extLst>
          </p:cNvPr>
          <p:cNvSpPr txBox="1"/>
          <p:nvPr/>
        </p:nvSpPr>
        <p:spPr>
          <a:xfrm>
            <a:off x="782293" y="3821146"/>
            <a:ext cx="550988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Types of Autoencoders</a:t>
            </a:r>
            <a:r>
              <a:rPr lang="en-US" sz="2000" dirty="0">
                <a:latin typeface="+mj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Vanilla Autoencoder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Multilayer Autoencoder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Convolutional Autoencoder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Denoising Autoencoder</a:t>
            </a: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Regularized Autoencoder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Sparse Autoencoder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Variational Autoencoder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444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0EA4DC2-9AEB-4D5F-8E67-5E66B58F62B8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Vanilla and Multilayer Autoencoders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EF93C-A499-49C3-BBAF-35742451B052}"/>
              </a:ext>
            </a:extLst>
          </p:cNvPr>
          <p:cNvSpPr txBox="1"/>
          <p:nvPr/>
        </p:nvSpPr>
        <p:spPr>
          <a:xfrm>
            <a:off x="3764272" y="6581001"/>
            <a:ext cx="4009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https://www.geeksforgeeks.org/numpy/types-of-autoencoders/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CC9249-2148-44F8-97EA-DA3821355BA1}"/>
              </a:ext>
            </a:extLst>
          </p:cNvPr>
          <p:cNvSpPr/>
          <p:nvPr/>
        </p:nvSpPr>
        <p:spPr>
          <a:xfrm>
            <a:off x="422304" y="366539"/>
            <a:ext cx="11347392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</a:rPr>
              <a:t>Vanilla Autoencoder</a:t>
            </a:r>
            <a:endParaRPr lang="en-US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 Vanilla Autoencoder are the simplest form used for unsupervised learning tasks. They consist of two main parts an encoder that compresses the input data into a smaller, dense representation and a decoder that reconstructs the original input from this compressed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 Training minimizes reconstruction error which measures the difference between input and output. This optimization is done via </a:t>
            </a:r>
            <a:r>
              <a:rPr lang="en-US" dirty="0">
                <a:latin typeface="+mj-lt"/>
                <a:hlinkClick r:id="rId2"/>
              </a:rPr>
              <a:t>backpropagation</a:t>
            </a:r>
            <a:r>
              <a:rPr lang="en-US" dirty="0">
                <a:latin typeface="+mj-lt"/>
              </a:rPr>
              <a:t> which helps in updating the network weights to improve reconstruction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 They are foundational models helps in serving as building blocks for more complex variants.</a:t>
            </a:r>
          </a:p>
          <a:p>
            <a:endParaRPr lang="en-US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Applications</a:t>
            </a:r>
            <a:endParaRPr lang="en-US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Data Compression:</a:t>
            </a:r>
            <a:r>
              <a:rPr lang="en-US" dirty="0">
                <a:latin typeface="+mj-lt"/>
              </a:rPr>
              <a:t> They learn a compact version of the input data making storage and transmission more efficient.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Feature Learning:</a:t>
            </a:r>
            <a:r>
              <a:rPr lang="en-US" dirty="0">
                <a:latin typeface="+mj-lt"/>
              </a:rPr>
              <a:t> It extract important patterns from data which is useful in image processing, natural language processing and sensor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Anomaly Detection:</a:t>
            </a:r>
            <a:r>
              <a:rPr lang="en-US" dirty="0">
                <a:latin typeface="+mj-lt"/>
              </a:rPr>
              <a:t> If the reconstructed output is different from the original input, it can show an anomaly or outlier which makes autoencoders useful for fraud detection and system monitoring.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Implementation</a:t>
            </a:r>
            <a:r>
              <a:rPr lang="en-US" dirty="0">
                <a:latin typeface="+mj-lt"/>
              </a:rPr>
              <a:t>: </a:t>
            </a:r>
            <a:r>
              <a:rPr lang="en-US" dirty="0">
                <a:latin typeface="+mj-lt"/>
                <a:hlinkClick r:id="rId3"/>
              </a:rPr>
              <a:t>https://github.com/mobinapourmoshir/Functional-Deep-Learning/blob/main/Autoencoders.ipynb</a:t>
            </a:r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230AC-8B9D-484A-A209-21F86AF09E34}"/>
              </a:ext>
            </a:extLst>
          </p:cNvPr>
          <p:cNvSpPr txBox="1"/>
          <p:nvPr/>
        </p:nvSpPr>
        <p:spPr>
          <a:xfrm>
            <a:off x="422304" y="5229725"/>
            <a:ext cx="8181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Multilayer Autoencoder:</a:t>
            </a:r>
          </a:p>
          <a:p>
            <a:r>
              <a:rPr lang="en-US" sz="1600" dirty="0">
                <a:latin typeface="+mj-lt"/>
              </a:rPr>
              <a:t>If one hidden layer is not enough, we can add more hidden layers.  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211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AFCA2F16-C88D-4384-9B76-4D5F37CAFBE4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Convolution Autoencoders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78ABB-91CC-41CD-B66B-5057BEEE8A01}"/>
              </a:ext>
            </a:extLst>
          </p:cNvPr>
          <p:cNvSpPr txBox="1"/>
          <p:nvPr/>
        </p:nvSpPr>
        <p:spPr>
          <a:xfrm>
            <a:off x="4292461" y="6581001"/>
            <a:ext cx="3607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https://sebastianraschka.com/blog/2021/dl-course.html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95328-BF92-4889-BE49-D92E6F244AA5}"/>
              </a:ext>
            </a:extLst>
          </p:cNvPr>
          <p:cNvSpPr txBox="1"/>
          <p:nvPr/>
        </p:nvSpPr>
        <p:spPr>
          <a:xfrm>
            <a:off x="470845" y="545430"/>
            <a:ext cx="106623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Convolution Autoencoder:</a:t>
            </a:r>
          </a:p>
          <a:p>
            <a:r>
              <a:rPr lang="en-US" sz="1600" dirty="0">
                <a:latin typeface="+mj-lt"/>
              </a:rPr>
              <a:t>Instead of fully connected layers, one may use convolutional layers. Allows us to increase the size of the output feature map compared to the input feature map. </a:t>
            </a:r>
          </a:p>
          <a:p>
            <a:r>
              <a:rPr lang="en-US" sz="1600" b="1" dirty="0"/>
              <a:t>Image Reconstruction</a:t>
            </a:r>
            <a:r>
              <a:rPr lang="en-US" sz="1600" dirty="0"/>
              <a:t>: Restores high-quality images from compressed latent codes.</a:t>
            </a:r>
          </a:p>
          <a:p>
            <a:r>
              <a:rPr lang="en-US" sz="1600" b="1" dirty="0"/>
              <a:t>Image Denoising:</a:t>
            </a:r>
            <a:r>
              <a:rPr lang="en-US" sz="1600" dirty="0"/>
              <a:t> Removes noise while preserving spatial detail in images.</a:t>
            </a:r>
          </a:p>
          <a:p>
            <a:r>
              <a:rPr lang="en-US" sz="1600" b="1" dirty="0"/>
              <a:t>Feature Extraction</a:t>
            </a:r>
            <a:r>
              <a:rPr lang="en-US" sz="1600" dirty="0"/>
              <a:t>: Captures hierarchical spatial features for tasks like classification and segmentation.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0B592-9551-474D-806B-D5CCE421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060" y="2338059"/>
            <a:ext cx="5879879" cy="424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04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71D2A3E2-40D4-4AD5-BFA9-6D09CBC2E875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Denoising Autoencoders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A09BD-230B-4F42-8FF8-0BF20D78E4C7}"/>
              </a:ext>
            </a:extLst>
          </p:cNvPr>
          <p:cNvSpPr txBox="1"/>
          <p:nvPr/>
        </p:nvSpPr>
        <p:spPr>
          <a:xfrm>
            <a:off x="3764272" y="6581001"/>
            <a:ext cx="4663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https://www.slideshare.net/slideshow/autoencoder-141008858/141008858#6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CE06B-9BD8-40CC-8063-267753BE82F5}"/>
              </a:ext>
            </a:extLst>
          </p:cNvPr>
          <p:cNvSpPr txBox="1"/>
          <p:nvPr/>
        </p:nvSpPr>
        <p:spPr>
          <a:xfrm>
            <a:off x="470845" y="545430"/>
            <a:ext cx="1098321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Denoising Autoencoder (DAE):</a:t>
            </a:r>
          </a:p>
          <a:p>
            <a:r>
              <a:rPr lang="en-US" sz="1600" dirty="0">
                <a:latin typeface="+mj-lt"/>
              </a:rPr>
              <a:t>Denoising Autoencoders are designed to handle corrupted or noisy inputs by learning to reconstruct the clean, original data.</a:t>
            </a:r>
          </a:p>
          <a:p>
            <a:r>
              <a:rPr lang="en-US" sz="1600" dirty="0">
                <a:latin typeface="+mj-lt"/>
              </a:rPr>
              <a:t>Training involves feeding intentionally corrupted inputs and minimizing the reconstruction error against the clean version.</a:t>
            </a:r>
          </a:p>
          <a:p>
            <a:r>
              <a:rPr lang="en-US" sz="1600" dirty="0">
                <a:latin typeface="+mj-lt"/>
              </a:rPr>
              <a:t>This approach forces the model to capture robust features that are invariant to noise.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Applications </a:t>
            </a:r>
          </a:p>
          <a:p>
            <a:r>
              <a:rPr lang="en-US" sz="1600" b="1" dirty="0">
                <a:latin typeface="+mj-lt"/>
              </a:rPr>
              <a:t>Image Denoising:</a:t>
            </a:r>
            <a:r>
              <a:rPr lang="en-US" sz="1600" dirty="0">
                <a:latin typeface="+mj-lt"/>
              </a:rPr>
              <a:t> Removes noise from images to increase quality and improve downstream processing.</a:t>
            </a:r>
          </a:p>
          <a:p>
            <a:r>
              <a:rPr lang="en-US" sz="1600" b="1" dirty="0">
                <a:latin typeface="+mj-lt"/>
              </a:rPr>
              <a:t>Signal Cleaning</a:t>
            </a:r>
            <a:r>
              <a:rPr lang="en-US" sz="1600" dirty="0">
                <a:latin typeface="+mj-lt"/>
              </a:rPr>
              <a:t>: Filters noise from audio and sensor signals helps in boosting detection accuracy.</a:t>
            </a:r>
          </a:p>
          <a:p>
            <a:r>
              <a:rPr lang="en-US" sz="1600" b="1" dirty="0">
                <a:latin typeface="+mj-lt"/>
              </a:rPr>
              <a:t>Data Preprocessing</a:t>
            </a:r>
            <a:r>
              <a:rPr lang="en-US" sz="1600" dirty="0">
                <a:latin typeface="+mj-lt"/>
              </a:rPr>
              <a:t>: Cleans corrupted data before input to other models helps in increasing robustness and performance.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Encoder:    h = f_</a:t>
            </a:r>
            <a:r>
              <a:rPr lang="el-GR" sz="1600" dirty="0">
                <a:latin typeface="+mj-lt"/>
              </a:rPr>
              <a:t>θ(</a:t>
            </a:r>
            <a:r>
              <a:rPr lang="en-US" sz="1600" dirty="0">
                <a:latin typeface="+mj-lt"/>
              </a:rPr>
              <a:t>x̃)      → compresses noisy input to latent representation</a:t>
            </a:r>
          </a:p>
          <a:p>
            <a:r>
              <a:rPr lang="en-US" sz="1600" dirty="0">
                <a:latin typeface="+mj-lt"/>
              </a:rPr>
              <a:t>Decoder:    x̂ = g_</a:t>
            </a:r>
            <a:r>
              <a:rPr lang="el-GR" sz="1600" dirty="0">
                <a:latin typeface="+mj-lt"/>
              </a:rPr>
              <a:t>φ(</a:t>
            </a:r>
            <a:r>
              <a:rPr lang="en-US" sz="1600" dirty="0">
                <a:latin typeface="+mj-lt"/>
              </a:rPr>
              <a:t>h)      → reconstructs clean data from latent code</a:t>
            </a: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1C6DDB-4484-4AF2-9651-F7904AFA1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699" y="2919531"/>
            <a:ext cx="4663456" cy="3101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4D5D7B-028B-407C-9DBF-CCCB9E3320F4}"/>
                  </a:ext>
                </a:extLst>
              </p:cNvPr>
              <p:cNvSpPr txBox="1"/>
              <p:nvPr/>
            </p:nvSpPr>
            <p:spPr>
              <a:xfrm>
                <a:off x="470845" y="4109041"/>
                <a:ext cx="40141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4D5D7B-028B-407C-9DBF-CCCB9E332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45" y="4109041"/>
                <a:ext cx="4014112" cy="276999"/>
              </a:xfrm>
              <a:prstGeom prst="rect">
                <a:avLst/>
              </a:prstGeom>
              <a:blipFill>
                <a:blip r:embed="rId3"/>
                <a:stretch>
                  <a:fillRect l="-1973" t="-28889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957037D3-D0E1-467F-9A1D-F1C1FC0DCC3D}"/>
              </a:ext>
            </a:extLst>
          </p:cNvPr>
          <p:cNvSpPr/>
          <p:nvPr/>
        </p:nvSpPr>
        <p:spPr>
          <a:xfrm>
            <a:off x="470845" y="5083854"/>
            <a:ext cx="91461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Implementation</a:t>
            </a:r>
            <a:r>
              <a:rPr lang="en-US" sz="1600" dirty="0"/>
              <a:t>: </a:t>
            </a:r>
            <a:r>
              <a:rPr lang="en-US" sz="1200" dirty="0">
                <a:hlinkClick r:id="rId4"/>
              </a:rPr>
              <a:t>https://github.com/mobinapourmoshir/Functional-Deep-Learning/blob/main/Autoencoders.ipynb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5751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A17B414-F8C3-42B2-A550-95DD0D5DB3EB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Regularized Autoencoders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6E2B3-F317-489A-ACA4-92D1F50345ED}"/>
              </a:ext>
            </a:extLst>
          </p:cNvPr>
          <p:cNvSpPr txBox="1"/>
          <p:nvPr/>
        </p:nvSpPr>
        <p:spPr>
          <a:xfrm>
            <a:off x="3764272" y="6581001"/>
            <a:ext cx="4663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Light Condensed" panose="020B0502040204020203" pitchFamily="34" charset="0"/>
              </a:rPr>
              <a:t>Reference: https://www.slideshare.net/slideshow/autoencoder-141008858/141008858#6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0541E2-E3C2-4F6A-9AA3-35BEE20A9D6E}"/>
              </a:ext>
            </a:extLst>
          </p:cNvPr>
          <p:cNvSpPr/>
          <p:nvPr/>
        </p:nvSpPr>
        <p:spPr>
          <a:xfrm>
            <a:off x="699247" y="880374"/>
            <a:ext cx="103363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 </a:t>
            </a:r>
            <a:r>
              <a:rPr lang="en-US" b="1" dirty="0">
                <a:latin typeface="+mj-lt"/>
              </a:rPr>
              <a:t>regularized autoencoder</a:t>
            </a:r>
            <a:r>
              <a:rPr lang="en-US" dirty="0">
                <a:latin typeface="+mj-lt"/>
              </a:rPr>
              <a:t> adds </a:t>
            </a:r>
            <a:r>
              <a:rPr lang="en-US" b="1" dirty="0">
                <a:latin typeface="+mj-lt"/>
              </a:rPr>
              <a:t>extra constraints</a:t>
            </a:r>
            <a:r>
              <a:rPr lang="en-US" dirty="0">
                <a:latin typeface="+mj-lt"/>
              </a:rPr>
              <a:t> (regularization terms) to the loss function so that the learned latent representation h has desirable properties. e.g., being sparse, smooth, disentangled, or close to a prior distribution.</a:t>
            </a:r>
          </a:p>
          <a:p>
            <a:r>
              <a:rPr lang="en-US" dirty="0">
                <a:latin typeface="+mj-lt"/>
              </a:rPr>
              <a:t>This helps the model learn </a:t>
            </a:r>
            <a:r>
              <a:rPr lang="en-US" b="1" dirty="0">
                <a:latin typeface="+mj-lt"/>
              </a:rPr>
              <a:t>more meaningful and generalizable</a:t>
            </a:r>
            <a:r>
              <a:rPr lang="en-US" dirty="0">
                <a:latin typeface="+mj-lt"/>
              </a:rPr>
              <a:t> features rather than just memorizing data.</a:t>
            </a:r>
          </a:p>
          <a:p>
            <a:r>
              <a:rPr lang="en-US" dirty="0"/>
              <a:t>A regular autoencoder minimizes the </a:t>
            </a:r>
            <a:r>
              <a:rPr lang="en-US" b="1" dirty="0"/>
              <a:t>reconstruction loss</a:t>
            </a:r>
            <a:r>
              <a:rPr lang="en-US" dirty="0"/>
              <a:t>:</a:t>
            </a:r>
            <a:endParaRPr lang="en-US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91290F-30C3-4871-9A0A-A9B3615FCBBC}"/>
                  </a:ext>
                </a:extLst>
              </p:cNvPr>
              <p:cNvSpPr txBox="1"/>
              <p:nvPr/>
            </p:nvSpPr>
            <p:spPr>
              <a:xfrm>
                <a:off x="1344706" y="2456038"/>
                <a:ext cx="19208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91290F-30C3-4871-9A0A-A9B3615FC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06" y="2456038"/>
                <a:ext cx="1920847" cy="276999"/>
              </a:xfrm>
              <a:prstGeom prst="rect">
                <a:avLst/>
              </a:prstGeom>
              <a:blipFill>
                <a:blip r:embed="rId2"/>
                <a:stretch>
                  <a:fillRect l="-4444" t="-26667" r="-1905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3F0AFF5-4A74-40E4-85AA-1E7E93646E4E}"/>
              </a:ext>
            </a:extLst>
          </p:cNvPr>
          <p:cNvSpPr/>
          <p:nvPr/>
        </p:nvSpPr>
        <p:spPr>
          <a:xfrm>
            <a:off x="699247" y="3244334"/>
            <a:ext cx="5694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 a </a:t>
            </a:r>
            <a:r>
              <a:rPr lang="en-US" b="1" dirty="0"/>
              <a:t>regularized autoencoder</a:t>
            </a:r>
            <a:r>
              <a:rPr lang="en-US" dirty="0"/>
              <a:t>, we modify the total loss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E89EEE-7997-4259-B64C-75856D9EA660}"/>
                  </a:ext>
                </a:extLst>
              </p:cNvPr>
              <p:cNvSpPr txBox="1"/>
              <p:nvPr/>
            </p:nvSpPr>
            <p:spPr>
              <a:xfrm>
                <a:off x="1344705" y="3986463"/>
                <a:ext cx="19763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E89EEE-7997-4259-B64C-75856D9EA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05" y="3986463"/>
                <a:ext cx="1976310" cy="276999"/>
              </a:xfrm>
              <a:prstGeom prst="rect">
                <a:avLst/>
              </a:prstGeom>
              <a:blipFill>
                <a:blip r:embed="rId3"/>
                <a:stretch>
                  <a:fillRect l="-2778" t="-2222" r="-401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C37AD8-0E2F-45E2-A647-E12FEC98D01D}"/>
                  </a:ext>
                </a:extLst>
              </p:cNvPr>
              <p:cNvSpPr/>
              <p:nvPr/>
            </p:nvSpPr>
            <p:spPr>
              <a:xfrm>
                <a:off x="699247" y="4543335"/>
                <a:ext cx="981635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 is a regularization term,𝜆&gt;0 is a tuning parameter that controls its strength.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C37AD8-0E2F-45E2-A647-E12FEC98D0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7" y="4543335"/>
                <a:ext cx="9816353" cy="369332"/>
              </a:xfrm>
              <a:prstGeom prst="rect">
                <a:avLst/>
              </a:prstGeom>
              <a:blipFill>
                <a:blip r:embed="rId4"/>
                <a:stretch>
                  <a:fillRect l="-559"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370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9105D9-4ED7-4FF9-A8FD-0BD206C84B02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Common Types of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AC0BB54-DBF6-4174-82A0-CC92B329CE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8141352"/>
                  </p:ext>
                </p:extLst>
              </p:nvPr>
            </p:nvGraphicFramePr>
            <p:xfrm>
              <a:off x="654423" y="847166"/>
              <a:ext cx="11089340" cy="4736947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2217868">
                      <a:extLst>
                        <a:ext uri="{9D8B030D-6E8A-4147-A177-3AD203B41FA5}">
                          <a16:colId xmlns:a16="http://schemas.microsoft.com/office/drawing/2014/main" val="1474499345"/>
                        </a:ext>
                      </a:extLst>
                    </a:gridCol>
                    <a:gridCol w="1739247">
                      <a:extLst>
                        <a:ext uri="{9D8B030D-6E8A-4147-A177-3AD203B41FA5}">
                          <a16:colId xmlns:a16="http://schemas.microsoft.com/office/drawing/2014/main" val="3881738360"/>
                        </a:ext>
                      </a:extLst>
                    </a:gridCol>
                    <a:gridCol w="2963638">
                      <a:extLst>
                        <a:ext uri="{9D8B030D-6E8A-4147-A177-3AD203B41FA5}">
                          <a16:colId xmlns:a16="http://schemas.microsoft.com/office/drawing/2014/main" val="2958502901"/>
                        </a:ext>
                      </a:extLst>
                    </a:gridCol>
                    <a:gridCol w="1950719">
                      <a:extLst>
                        <a:ext uri="{9D8B030D-6E8A-4147-A177-3AD203B41FA5}">
                          <a16:colId xmlns:a16="http://schemas.microsoft.com/office/drawing/2014/main" val="782513121"/>
                        </a:ext>
                      </a:extLst>
                    </a:gridCol>
                    <a:gridCol w="2217868">
                      <a:extLst>
                        <a:ext uri="{9D8B030D-6E8A-4147-A177-3AD203B41FA5}">
                          <a16:colId xmlns:a16="http://schemas.microsoft.com/office/drawing/2014/main" val="704738678"/>
                        </a:ext>
                      </a:extLst>
                    </a:gridCol>
                  </a:tblGrid>
                  <a:tr h="33259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>
                              <a:latin typeface="+mj-lt"/>
                            </a:rPr>
                            <a:t>Type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>
                              <a:latin typeface="+mj-lt"/>
                            </a:rPr>
                            <a:t>Input Setup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>
                              <a:latin typeface="+mj-lt"/>
                            </a:rPr>
                            <a:t>Loss Function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Regularization / Constraint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Goal / Effect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513348854"/>
                      </a:ext>
                    </a:extLst>
                  </a:tr>
                  <a:tr h="61766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Basic Autoencoder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Reconstruction loss:  L =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4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None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Learn compressed representation that can reconstruct input.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1433639877"/>
                      </a:ext>
                    </a:extLst>
                  </a:tr>
                  <a:tr h="47512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Denoising Autoencoder (DAE)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i-FI" sz="1400" dirty="0">
                              <a:latin typeface="+mj-lt"/>
                            </a:rPr>
                            <a:t>Noisy input x̃ = x + noise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ea typeface="Cambria Math" panose="02040503050406030204" pitchFamily="18" charset="0"/>
                            </a:rPr>
                            <a:t>L =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4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Implicit (via noise corruption)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Learn robust features; denoise corrupted data.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4139038269"/>
                      </a:ext>
                    </a:extLst>
                  </a:tr>
                  <a:tr h="61766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Sparse Autoencoder (SAE)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                                          or 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Enforce sparsity on hidden activations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Learn interpretable, sparse latent features.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999222289"/>
                      </a:ext>
                    </a:extLst>
                  </a:tr>
                  <a:tr h="90274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Contractive Autoencoder (CAE)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 =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Penalize encoder’s sensitivity (Jacobian norm)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Make representation invariant to small input changes (smooth manifold).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3685975834"/>
                      </a:ext>
                    </a:extLst>
                  </a:tr>
                  <a:tr h="47512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Variational Autoencoder (VAE)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x, probabilistic latent h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 = 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/>
                            <a:t>KL divergence </a:t>
                          </a:r>
                          <a:r>
                            <a:rPr lang="en-US" sz="1200" dirty="0"/>
                            <a:t>between encoder q(</a:t>
                          </a:r>
                          <a:r>
                            <a:rPr lang="en-US" sz="1200" dirty="0" err="1"/>
                            <a:t>h∣x</a:t>
                          </a:r>
                          <a:r>
                            <a:rPr lang="en-US" sz="1200" dirty="0"/>
                            <a:t>) and prior p(h); enforces latent space to follow a standard normal distribution.</a:t>
                          </a:r>
                          <a:endParaRPr lang="en-US" sz="12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Learn a smooth, continuous, and structured latent space that allows data generation, interpolation, and sampling.</a:t>
                          </a:r>
                          <a:endParaRPr lang="fr-FR" sz="14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2482010958"/>
                      </a:ext>
                    </a:extLst>
                  </a:tr>
                  <a:tr h="61766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Weight-Regularized Autoencoder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 = </a:t>
                          </a:r>
                          <a:endParaRPr lang="pl-PL" sz="14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Penalize network weights (L2/L1)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Prevent overfitting; improve generalization.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2674149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AC0BB54-DBF6-4174-82A0-CC92B329CE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8141352"/>
                  </p:ext>
                </p:extLst>
              </p:nvPr>
            </p:nvGraphicFramePr>
            <p:xfrm>
              <a:off x="654423" y="847166"/>
              <a:ext cx="11089340" cy="4736947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2217868">
                      <a:extLst>
                        <a:ext uri="{9D8B030D-6E8A-4147-A177-3AD203B41FA5}">
                          <a16:colId xmlns:a16="http://schemas.microsoft.com/office/drawing/2014/main" val="1474499345"/>
                        </a:ext>
                      </a:extLst>
                    </a:gridCol>
                    <a:gridCol w="1739247">
                      <a:extLst>
                        <a:ext uri="{9D8B030D-6E8A-4147-A177-3AD203B41FA5}">
                          <a16:colId xmlns:a16="http://schemas.microsoft.com/office/drawing/2014/main" val="3881738360"/>
                        </a:ext>
                      </a:extLst>
                    </a:gridCol>
                    <a:gridCol w="2963638">
                      <a:extLst>
                        <a:ext uri="{9D8B030D-6E8A-4147-A177-3AD203B41FA5}">
                          <a16:colId xmlns:a16="http://schemas.microsoft.com/office/drawing/2014/main" val="2958502901"/>
                        </a:ext>
                      </a:extLst>
                    </a:gridCol>
                    <a:gridCol w="1950719">
                      <a:extLst>
                        <a:ext uri="{9D8B030D-6E8A-4147-A177-3AD203B41FA5}">
                          <a16:colId xmlns:a16="http://schemas.microsoft.com/office/drawing/2014/main" val="782513121"/>
                        </a:ext>
                      </a:extLst>
                    </a:gridCol>
                    <a:gridCol w="2217868">
                      <a:extLst>
                        <a:ext uri="{9D8B030D-6E8A-4147-A177-3AD203B41FA5}">
                          <a16:colId xmlns:a16="http://schemas.microsoft.com/office/drawing/2014/main" val="704738678"/>
                        </a:ext>
                      </a:extLst>
                    </a:gridCol>
                  </a:tblGrid>
                  <a:tr h="47423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>
                              <a:latin typeface="+mj-lt"/>
                            </a:rPr>
                            <a:t>Type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>
                              <a:latin typeface="+mj-lt"/>
                            </a:rPr>
                            <a:t>Input Setup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>
                              <a:latin typeface="+mj-lt"/>
                            </a:rPr>
                            <a:t>Loss Function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Regularization / Constraint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Goal / Effect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513348854"/>
                      </a:ext>
                    </a:extLst>
                  </a:tr>
                  <a:tr h="68759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Basic Autoencoder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513" marR="47513" marT="23756" marB="23756" anchor="ctr">
                        <a:blipFill>
                          <a:blip r:embed="rId2"/>
                          <a:stretch>
                            <a:fillRect l="-133470" t="-72566" r="-140862" b="-522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None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Learn compressed representation that can reconstruct input.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1433639877"/>
                      </a:ext>
                    </a:extLst>
                  </a:tr>
                  <a:tr h="47512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Denoising Autoencoder (DAE)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i-FI" sz="1400" dirty="0">
                              <a:latin typeface="+mj-lt"/>
                            </a:rPr>
                            <a:t>Noisy input x̃ = x + noise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513" marR="47513" marT="23756" marB="23756" anchor="ctr">
                        <a:blipFill>
                          <a:blip r:embed="rId2"/>
                          <a:stretch>
                            <a:fillRect l="-133470" t="-250000" r="-140862" b="-656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Implicit (via noise corruption)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Learn robust features; denoise corrupted data.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4139038269"/>
                      </a:ext>
                    </a:extLst>
                  </a:tr>
                  <a:tr h="61766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Sparse Autoencoder (SAE)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                                          or 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Enforce sparsity on hidden activations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Learn interpretable, sparse latent features.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999222289"/>
                      </a:ext>
                    </a:extLst>
                  </a:tr>
                  <a:tr h="90274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Contractive Autoencoder (CAE)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 =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Penalize encoder’s sensitivity (Jacobian norm)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Make representation invariant to small input changes (smooth manifold).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3685975834"/>
                      </a:ext>
                    </a:extLst>
                  </a:tr>
                  <a:tr h="96191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Variational Autoencoder (VAE)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x, probabilistic latent h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 = 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b="0" dirty="0"/>
                            <a:t>KL divergence </a:t>
                          </a:r>
                          <a:r>
                            <a:rPr lang="en-US" sz="1200" dirty="0"/>
                            <a:t>between encoder q(</a:t>
                          </a:r>
                          <a:r>
                            <a:rPr lang="en-US" sz="1200" dirty="0" err="1"/>
                            <a:t>h∣x</a:t>
                          </a:r>
                          <a:r>
                            <a:rPr lang="en-US" sz="1200" dirty="0"/>
                            <a:t>) and prior p(h); enforces latent space to follow a standard normal distribution.</a:t>
                          </a:r>
                          <a:endParaRPr lang="en-US" sz="12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Learn a smooth, continuous, and structured latent space that allows data generation, interpolation, and sampling.</a:t>
                          </a:r>
                          <a:endParaRPr lang="fr-FR" sz="14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2482010958"/>
                      </a:ext>
                    </a:extLst>
                  </a:tr>
                  <a:tr h="61766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1" dirty="0">
                              <a:latin typeface="+mj-lt"/>
                            </a:rPr>
                            <a:t>Weight-Regularized Autoencoder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>
                              <a:latin typeface="+mj-lt"/>
                            </a:rPr>
                            <a:t>Clean input x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L = </a:t>
                          </a:r>
                          <a:endParaRPr lang="pl-PL" sz="1400" dirty="0">
                            <a:latin typeface="+mj-lt"/>
                          </a:endParaRP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Penalize network weights (L2/L1)</a:t>
                          </a:r>
                        </a:p>
                      </a:txBody>
                      <a:tcPr marL="47513" marR="47513" marT="23756" marB="23756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+mj-lt"/>
                            </a:rPr>
                            <a:t>Prevent overfitting; improve generalization.</a:t>
                          </a:r>
                        </a:p>
                      </a:txBody>
                      <a:tcPr marL="47513" marR="47513" marT="23756" marB="23756" anchor="ctr"/>
                    </a:tc>
                    <a:extLst>
                      <a:ext uri="{0D108BD9-81ED-4DB2-BD59-A6C34878D82A}">
                        <a16:rowId xmlns:a16="http://schemas.microsoft.com/office/drawing/2014/main" val="267414982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138D2E1-8141-4FFD-B86E-06472907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072" y="2609529"/>
            <a:ext cx="1440928" cy="4416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0AF1D9-DDD0-4A18-A0B5-FF16583E4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734" y="2618545"/>
            <a:ext cx="864607" cy="3537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581D39-0FA3-4A86-A9D7-8EDF8587E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496" y="3433580"/>
            <a:ext cx="1991560" cy="3526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CEF894-4E83-4A52-A6EC-F7EED5AE3C4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70" b="4455"/>
          <a:stretch/>
        </p:blipFill>
        <p:spPr>
          <a:xfrm>
            <a:off x="4863319" y="4266879"/>
            <a:ext cx="2671548" cy="3622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DE494B-B699-4E01-9658-A70121721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8208" y="5111630"/>
            <a:ext cx="1428949" cy="3429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475DCE1-5B05-46F5-989E-F991646ACF24}"/>
              </a:ext>
            </a:extLst>
          </p:cNvPr>
          <p:cNvSpPr/>
          <p:nvPr/>
        </p:nvSpPr>
        <p:spPr>
          <a:xfrm>
            <a:off x="495741" y="5781807"/>
            <a:ext cx="106473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Implementation</a:t>
            </a:r>
            <a:r>
              <a:rPr lang="en-US" dirty="0"/>
              <a:t>: </a:t>
            </a:r>
            <a:r>
              <a:rPr lang="en-US" sz="1400" dirty="0">
                <a:hlinkClick r:id="rId8"/>
              </a:rPr>
              <a:t>https://github.com/mobinapourmoshir/Functional-Deep-Learning/blob/main/Autoencoders.ipynb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582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F900460-46F4-475A-9338-770DF92F25B8}"/>
              </a:ext>
            </a:extLst>
          </p:cNvPr>
          <p:cNvSpPr txBox="1">
            <a:spLocks/>
          </p:cNvSpPr>
          <p:nvPr/>
        </p:nvSpPr>
        <p:spPr>
          <a:xfrm>
            <a:off x="2743200" y="-111443"/>
            <a:ext cx="6705600" cy="477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Bahnschrift Light Condensed" panose="020B0502040204020203" pitchFamily="34" charset="0"/>
              </a:rPr>
              <a:t>Question?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C23FF3-905B-479E-BF30-7ED9B7866DF1}"/>
              </a:ext>
            </a:extLst>
          </p:cNvPr>
          <p:cNvSpPr/>
          <p:nvPr/>
        </p:nvSpPr>
        <p:spPr>
          <a:xfrm>
            <a:off x="493058" y="850758"/>
            <a:ext cx="108404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Can we combine these regularization terms to have a more comprehensive and accurate autoencoder mode?</a:t>
            </a:r>
          </a:p>
          <a:p>
            <a:endParaRPr lang="en-US" dirty="0"/>
          </a:p>
          <a:p>
            <a:r>
              <a:rPr lang="en-US" dirty="0"/>
              <a:t>The answer is YES! As an example combining smoothness and sparsity is both valid and powerful. It helps learn structured, robust, and interpretable representations by blending local stability (</a:t>
            </a:r>
            <a:r>
              <a:rPr lang="en-US" dirty="0">
                <a:latin typeface="+mj-lt"/>
              </a:rPr>
              <a:t>smoothness</a:t>
            </a:r>
            <a:r>
              <a:rPr lang="en-US" dirty="0"/>
              <a:t>) with parsimony (sparsity). </a:t>
            </a:r>
          </a:p>
          <a:p>
            <a:r>
              <a:rPr lang="en-US" dirty="0"/>
              <a:t>It can be done by combining L1 and contractive (Jacobian) penalties as below: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257A5-258F-4009-A7DB-9D2BC9B4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" y="2503148"/>
            <a:ext cx="3980330" cy="5556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1EFDA8-A022-4F9D-85A8-F7E970FC4B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12"/>
          <a:stretch/>
        </p:blipFill>
        <p:spPr>
          <a:xfrm>
            <a:off x="2429904" y="3089303"/>
            <a:ext cx="8735644" cy="17464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ABF785-B282-4C20-8BCD-6DB38172B114}"/>
              </a:ext>
            </a:extLst>
          </p:cNvPr>
          <p:cNvSpPr/>
          <p:nvPr/>
        </p:nvSpPr>
        <p:spPr>
          <a:xfrm>
            <a:off x="1570373" y="4196879"/>
            <a:ext cx="85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Sparse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9756A-37EF-4624-8DBF-ACEC029BB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272" y="4768786"/>
            <a:ext cx="8783276" cy="9050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30BBDA-87D1-44ED-BE17-2BC5DEB59B61}"/>
              </a:ext>
            </a:extLst>
          </p:cNvPr>
          <p:cNvSpPr/>
          <p:nvPr/>
        </p:nvSpPr>
        <p:spPr>
          <a:xfrm>
            <a:off x="1166961" y="5024146"/>
            <a:ext cx="1342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Contractive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8E5C2-3436-4BBF-BD59-27A5DD8BE12E}"/>
              </a:ext>
            </a:extLst>
          </p:cNvPr>
          <p:cNvSpPr/>
          <p:nvPr/>
        </p:nvSpPr>
        <p:spPr>
          <a:xfrm>
            <a:off x="1087870" y="5704284"/>
            <a:ext cx="1342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Sparse + Contractive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42BA4B-E3BF-4C9C-897A-1A57FE670A64}"/>
              </a:ext>
            </a:extLst>
          </p:cNvPr>
          <p:cNvSpPr/>
          <p:nvPr/>
        </p:nvSpPr>
        <p:spPr>
          <a:xfrm>
            <a:off x="1527636" y="3340356"/>
            <a:ext cx="981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Original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4019D6-D983-4B32-A53E-2A43527AC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9904" y="5593157"/>
            <a:ext cx="8674226" cy="86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72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948D-8B27-40A3-88F0-DA7E68D07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  </a:t>
            </a:r>
          </a:p>
        </p:txBody>
      </p:sp>
    </p:spTree>
    <p:extLst>
      <p:ext uri="{BB962C8B-B14F-4D97-AF65-F5344CB8AC3E}">
        <p14:creationId xmlns:p14="http://schemas.microsoft.com/office/powerpoint/2010/main" val="369498267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1641</TotalTime>
  <Words>1244</Words>
  <Application>Microsoft Office PowerPoint</Application>
  <PresentationFormat>Widescreen</PresentationFormat>
  <Paragraphs>141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Aharoni</vt:lpstr>
      <vt:lpstr>Arial</vt:lpstr>
      <vt:lpstr>Bahnschrift Light Condensed</vt:lpstr>
      <vt:lpstr>Calibri</vt:lpstr>
      <vt:lpstr>Cambria Math</vt:lpstr>
      <vt:lpstr>Corbel</vt:lpstr>
      <vt:lpstr>Basis</vt:lpstr>
      <vt:lpstr>Autoencoders &amp; Dimensionality Reduction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Autoencoders &amp; Dimensionality Reduction</dc:title>
  <dc:creator>Pourmoshir, Mobina</dc:creator>
  <cp:lastModifiedBy>Pourmoshir, Mobina</cp:lastModifiedBy>
  <cp:revision>46</cp:revision>
  <dcterms:created xsi:type="dcterms:W3CDTF">2025-11-05T14:39:46Z</dcterms:created>
  <dcterms:modified xsi:type="dcterms:W3CDTF">2025-11-10T15:56:37Z</dcterms:modified>
</cp:coreProperties>
</file>